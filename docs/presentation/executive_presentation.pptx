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01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Enterprise Cloud Modernisation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CloudFusion Healthcare Analytics Ltd (CHA) | AWS Modernisation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99.999% Availability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Five-nines clinical reliability target with Multi-AZ redundancy.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100,000+ Users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Massive elastic auto-scaling via ECS Fargate and Aurora Serverless v2.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82.3% TCO Savings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Slashing $142k/mo on-premises run-rate to $25k/mo on AWS.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02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The Legacy Infrastructure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On-Premises Single-Site Vulnerabilities &amp; Monolithic Failure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Single Point of Failure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220 VMware VMs in a single data center; power/cooling failure causes total regional blackout.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Monolithic Coupling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Billing, EHR, and patient vitals share memory; single memory leak halts intensive care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Operational Drag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Manual deployments; no auto-scaling; legacy VPN bottlenecks to 22 branch hospitals.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03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Business Drivers &amp; The Five Nines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Contractual Mandate vs Clinical Life-Safety Realities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Telco-Grade 99.999%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99.99% permits 52.6 min/yr downtime; clinical life-safety demands 99.999% (&lt;5.26 min/yr).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100,000 Concurrent Scale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Support morning clinic booking surges without database locking or server exhaustion.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FinOps Discipline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Reduce operational expenses by at least 40% using serverless and savings plans.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04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Clinical Case for IoT: Discrete vs Continuous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Transforming Healthcare from Reactive Guesswork to Predictive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Discrete Nursing Polling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Nurses record vitals every 4-6 hours; patient cardiac arrests between visits are completely unmonitored.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Continuous IoT Streaming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Sensors stream SpO2 and ECG every 60s to AWS IoT Core; real-time dashboards track physiological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AI Predictive Triage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Machine learning algorithms forecast sepsis and decompensation 24 to 48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05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Strategic Migration Framework (Well-Architected &amp; 7 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Targeted Cloud Modernisation Aligned with the 6 Well-Architected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Replatform (Databases)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Migrate MS SQL Server and MySQL to Amazon Aurora PostgreSQL Serverless v2 via AWS SCT &amp; DMS.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Refactor (Applications)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Decompose monolith into microservices on Amazon ECS on AWS Fargate; IoT to AWS IoT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Terraform IaC Standard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Terraform selected over CloudFormation to ensure hybrid portability across AWS and on-prem VMware.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06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Low-Downtime Data Migration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Continuous Change Data Capture (CDC) &amp; Cryptographic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AWS DMS Continuous CDC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Multi-AZ replication instance captures ongoing transaction logs with &lt; 2 seconds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15-Minute Cutover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Application downtime restricted to a 15-minute off-peak maintenance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AWS Glue PySpark Integrity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Converts 5+ years of archives to Parquet; verifies row-level SHA-256 integrity checksums.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07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Target AWS Multi-AZ Network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VPC CIDR: 10.50.0.0/16 Spanning 3 Availability Zones in Singapore</a:t>
            </a:r>
          </a:p>
        </p:txBody>
      </p:sp>
      <p:pic>
        <p:nvPicPr>
          <p:cNvPr id="5" name="Picture 4" descr="aws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10362895" cy="57839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08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Patient Monitoring Platform (PMP): IoT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Sub-Second Ingestion of Wearable Telemetry &amp; Emergency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Secure mTLS Ingestion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Medical wearables authenticate via mutual TLS (X.509 certs) publishing to AWS IoT 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Emergency Path (&lt; 500ms)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Hypoxia rule (SpO2 &lt; 90%) routes immediately to Amazon SNS &amp; Lambda for doctor pager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Streaming Analytics Lake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Kinesis Data Streams writes hot records to DynamoDB and archival Parquet to Amazon S3.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09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Telemedicine &amp; Patient Portal (TPP):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Distributed Microservices, WAF Edge Defense &amp; Encrypted WebRTC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Edge Security &amp; CDN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Route 53 + CloudFront CDN + AWS WAF protecting static React SPA hosted in S3 with OAC.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Elastic Fargate Microservices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Decoupled services (EHR, Appointments, Billing) auto-scaling from 6 to 60 containers.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Amazon Chime SDK Video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Peer-to-peer encrypted WebRTC video consultation sessions with zero backend compute 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10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Multi-Layered Zero-Trust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Defense-in-Depth Protecting Sensitive Electronic Health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Network &amp; Perimeter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AWS WAF OWASP rules + strict Security Group chaining (ALB -&gt; ECS -&gt; Aurora DB).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Identity &amp; Cryptography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Attribute-Based Access Control (ABAC), hardware MFA, and KMS Customer Managed Keys.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Continuous Auditing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AWS CloudTrail WORM object locking, AWS Config conformance packs, and GuardDuty threat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11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Healthcare Governance &amp; Compliance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Strict Adherence to GDPR Article 17, HIPAA, and ISO 27001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GDPR Right to Erasure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Pseudonymized patient identifiers via HMAC-SHA256; cryptographic erasure of individual salt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HIPAA Compliance Mode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CloudTrail logs immutably locked using S3 Object Lock in Compliance Mode (cannot be deleted for 7 yrs).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Zero Patient Data Leaks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S3 Block Public Access enforced; mandatory TLS 1.3 encryption across all communication paths.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12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Hybrid Connectivity &amp; Hospital Edge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10 Gbps Direct Connect Interconnect &amp; AWS IoT Greengrass Ward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Direct Connect + IPsec VPN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10 Gbps dedicated link with automated BGP failover to Dual IPsec VPN in &lt; 3 seconds via TGW.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Hybrid Route 53 DNS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Inbound endpoints resolve AWS services from clinics; outbound endpoints resolve hospital LDAP.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Greengrass Edge Nodes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Edge gateways in hospital wards filter vitals and buffer offline in SQLite during WAN outages.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13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FinOps Cost Optimization (82.3% TCO Reduction)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Mathematical Proof of Slashing Operational Run-Rate Exceeding 40% Mandate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On-Premises: $142,400/mo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Baseline of 220 physical VMs, SAN storage arrays, VMware and SQL Server core licensing.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AWS On-Demand: $48,662/mo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Immediate 65.8% reduction through serverless container and database modernization.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AWS FinOps Target: $25,176/mo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82.3% Total TCO Savings via Fargate Spot (70% cut), 3-Yr Savings Plans, and S3 Glacier tiering.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14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Disaster Recovery &amp; Business Continuity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Target Recovery Time Objective (RTO) and Recovery Point Objective (RPO)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Single AZ Outage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Aurora Multi-AZ storage failover in &lt; 30 seconds with 0 seconds RPO (Zero Data Loss).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Database Corruption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Point-in-Time Recovery (PITR) restores database to any second within 15 minutes (&lt; 5 min RPO).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Catastrophic Region Outage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Cross-region Pilot Light in Sydney (ap-southeast-2) with Route 53 automated DNS failover (&lt; 45 min RTO).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SLIDE 15 // CLOUDFUSION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Conclusion &amp; Strategic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Turnkey Deliverables Ready for Immediate Staging and Production Cutover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46120" cy="3840480"/>
          </a:xfrm>
          <a:prstGeom prst="roundRect">
            <a:avLst/>
          </a:prstGeom>
          <a:solidFill>
            <a:srgbClr val="161E31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Month 1: Foundation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Deploy Terraform stack in staging; configure DMS CDC replication; test Greengrass edge nodes.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Month 2: Load &amp; Security Audit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Validate 100,000 user concurrency via Locust; execute penetration testing and compliance 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286000"/>
            <a:ext cx="3246120" cy="3840480"/>
          </a:xfrm>
          <a:prstGeom prst="roundRect">
            <a:avLst/>
          </a:prstGeom>
          <a:solidFill>
            <a:srgbClr val="161E31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560320"/>
            <a:ext cx="2788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1F5F9"/>
                </a:solidFill>
                <a:latin typeface="Calibri"/>
              </a:defRPr>
            </a:pPr>
            <a:r>
              <a:t>Month 3: Production Cutover</a:t>
            </a:r>
          </a:p>
          <a:p>
            <a:pPr>
              <a:lnSpc>
                <a:spcPct val="130000"/>
              </a:lnSpc>
              <a:defRPr sz="1200">
                <a:solidFill>
                  <a:srgbClr val="CBD5E1"/>
                </a:solidFill>
                <a:latin typeface="Calibri"/>
              </a:defRPr>
            </a:pPr>
            <a:r>
              <a:t>Execute 15-minute cutover window; repoint Route 53; decommission on-prem data center to save $1.4M/yr.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